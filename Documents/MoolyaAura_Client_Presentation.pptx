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problem, land on the solution. The client should take away that MoolyaAura is a record-once platform: the tester performs the journey, the platform reuses what already exists, validates, and only then promotes.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slide. Stage 2 is why the decisions are trustworthy; stage 5 is why a green test can be believed — the test must behave correctly both positively and negatively. Stage 7 is where governance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hierarchy. Reuse first, then proven locators, then context, then meaning. AI sits at position six and is reached only for an eligible semantic or ownership question. NEEDS_REVIEW at the bottom is a feature: the platform refuses to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governance slide. ~18% of automation-capability decisions were even eligible for AI; ~82% were settled deterministically or safely refused with no model call. The AI-first column is explicitly illustrative — do not present it as a measured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and governance. The key client point: the output is standard Playwright and TypeScript that any test engineer can read, own and run in CI. No proprietary runtime, and no AI dependency when the suite executes.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The largest potential benefit is on complex scenarios — roughly 550 engineering hours per 100 complex cases on these assumptions. Be explicit that this is a planning model built from the team’s own stated throughput, not a measured production result, and that monetary value follows once the client supplies its loaded hourly engineering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5852160" cy="5852160"/>
          </a:xfrm>
          <a:prstGeom prst="ellipse">
            <a:avLst/>
          </a:prstGeom>
          <a:solidFill>
            <a:srgbClr val="1F4370">
              <a:alpha val="38000"/>
            </a:srgbClr>
          </a:solidFill>
          <a:ln w="12700">
            <a:solidFill>
              <a:srgbClr val="1F43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4023360" cy="402336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48640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MoolyaAura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F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Test Automation Platform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95528" y="1810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ONCE    •    REUSE EVERYWHERE    •    VALIDATE BEFORE PROMOTION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95728"/>
            <a:ext cx="5212080" cy="1700784"/>
          </a:xfrm>
          <a:prstGeom prst="roundRect">
            <a:avLst>
              <a:gd name="adj" fmla="val 4301"/>
            </a:avLst>
          </a:prstGeom>
          <a:solidFill>
            <a:srgbClr val="2B2233"/>
          </a:solidFill>
          <a:ln w="12700">
            <a:solidFill>
              <a:srgbClr val="5C4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615184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2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2944368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test automation requires significant engineering time to convert test scenarios into maintainable automation, and creates ongoing Page Object and locator maintenance effort.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2395728"/>
            <a:ext cx="5212080" cy="1700784"/>
          </a:xfrm>
          <a:prstGeom prst="roundRect">
            <a:avLst>
              <a:gd name="adj" fmla="val 4301"/>
            </a:avLst>
          </a:prstGeom>
          <a:solidFill>
            <a:srgbClr val="10394A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2615184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39128" y="2944368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tester records the real browser journey once. MoolyaAura resolves and reuses existing automation capabilities, validates the generated test, and promotes it only when it meets the required quality gates.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99048" y="3127248"/>
            <a:ext cx="237744" cy="237744"/>
          </a:xfrm>
          <a:prstGeom prst="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328" y="4443984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17314F"/>
          </a:solidFill>
          <a:ln w="12700">
            <a:solidFill>
              <a:srgbClr val="2543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648" y="46817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216" y="4795296"/>
            <a:ext cx="193487" cy="1934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97000" y="47000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Automation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66648" y="521208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starts from a recorded journey rather than from scripting effort.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449928" y="4443984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17314F"/>
          </a:solidFill>
          <a:ln w="12700">
            <a:solidFill>
              <a:srgbClr val="2543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24248" y="46817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816" y="4795296"/>
            <a:ext cx="193487" cy="19348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4600" y="47000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724248" y="521208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capabilities are reused, so one interface change is fixed in one place.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107528" y="4443984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17314F"/>
          </a:solidFill>
          <a:ln w="12700">
            <a:solidFill>
              <a:srgbClr val="25436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81848" y="46817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416" y="4795296"/>
            <a:ext cx="193487" cy="19348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12200" y="47000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AI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381848" y="521208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rules do the work. AI is an escalation path — never the engine.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77240" y="619963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deterministic-first automation platform that uses AI selectively and safely.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Recording to Automated Test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10515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stages. A case that cannot satisfy a stage does not silently continue.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6588" y="1572768"/>
            <a:ext cx="2514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B9C7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2620" y="1828800"/>
            <a:ext cx="420624" cy="420624"/>
          </a:xfrm>
          <a:prstGeom prst="ellipse">
            <a:avLst/>
          </a:prstGeom>
          <a:solidFill>
            <a:srgbClr val="2E6FA8"/>
          </a:solidFill>
          <a:ln w="12700">
            <a:solidFill>
              <a:srgbClr val="2E6F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188" y="1942368"/>
            <a:ext cx="193487" cy="193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87956" y="1810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D5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262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2620" y="266090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tester performs the required journey once in the real browser.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 rot="5400000">
            <a:off x="3169768" y="2432304"/>
            <a:ext cx="182880" cy="201168"/>
          </a:xfrm>
          <a:prstGeom prst="triangle">
            <a:avLst/>
          </a:prstGeom>
          <a:solidFill>
            <a:srgbClr val="9FB3C6"/>
          </a:solidFill>
          <a:ln w="12700">
            <a:solidFill>
              <a:srgbClr val="9FB3C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1228" y="1572768"/>
            <a:ext cx="2514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B9C7D6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77260" y="1828800"/>
            <a:ext cx="420624" cy="420624"/>
          </a:xfrm>
          <a:prstGeom prst="ellipse">
            <a:avLst/>
          </a:prstGeom>
          <a:solidFill>
            <a:srgbClr val="2E6FA8"/>
          </a:solidFill>
          <a:ln w="12700">
            <a:solidFill>
              <a:srgbClr val="2E6F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28" y="1942368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22596" y="1810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D5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7726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Evidence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77260" y="266090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captures what the browser actually showed during the interaction.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 rot="5400000">
            <a:off x="6004408" y="2432304"/>
            <a:ext cx="182880" cy="201168"/>
          </a:xfrm>
          <a:prstGeom prst="triangle">
            <a:avLst/>
          </a:prstGeom>
          <a:solidFill>
            <a:srgbClr val="9FB3C6"/>
          </a:solidFill>
          <a:ln w="12700">
            <a:solidFill>
              <a:srgbClr val="9FB3C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55868" y="1572768"/>
            <a:ext cx="2514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B9C7D6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11900" y="1828800"/>
            <a:ext cx="420624" cy="420624"/>
          </a:xfrm>
          <a:prstGeom prst="ellipse">
            <a:avLst/>
          </a:prstGeom>
          <a:solidFill>
            <a:srgbClr val="2E6FA8"/>
          </a:solidFill>
          <a:ln w="12700">
            <a:solidFill>
              <a:srgbClr val="2E6FA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468" y="1942368"/>
            <a:ext cx="193487" cy="1934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57236" y="1810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D5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1190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11900" y="266090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Page Objects and deterministic mechanisms are evaluated before anything new is created.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 rot="5400000">
            <a:off x="8839048" y="2432304"/>
            <a:ext cx="182880" cy="201168"/>
          </a:xfrm>
          <a:prstGeom prst="triangle">
            <a:avLst/>
          </a:prstGeom>
          <a:solidFill>
            <a:srgbClr val="9FB3C6"/>
          </a:solidFill>
          <a:ln w="12700">
            <a:solidFill>
              <a:srgbClr val="9FB3C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90508" y="1572768"/>
            <a:ext cx="2514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B9C7D6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46540" y="1828800"/>
            <a:ext cx="420624" cy="420624"/>
          </a:xfrm>
          <a:prstGeom prst="ellipse">
            <a:avLst/>
          </a:prstGeom>
          <a:solidFill>
            <a:srgbClr val="2E6FA8"/>
          </a:solidFill>
          <a:ln w="12700">
            <a:solidFill>
              <a:srgbClr val="2E6FA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108" y="1942368"/>
            <a:ext cx="193487" cy="1934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891876" y="1810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D5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4654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346540" y="266090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maintainable Playwright test is assembled using reusable automation capabilities.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003908" y="3858768"/>
            <a:ext cx="2514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B9C7D6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259940" y="411480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3508" y="4228368"/>
            <a:ext cx="193487" cy="19348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05276" y="4096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D5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2259940" y="4617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2259940" y="494690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test is validated, including positive and negative behaviour.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 rot="5400000">
            <a:off x="4587088" y="4718304"/>
            <a:ext cx="182880" cy="201168"/>
          </a:xfrm>
          <a:prstGeom prst="triangle">
            <a:avLst/>
          </a:prstGeom>
          <a:solidFill>
            <a:srgbClr val="9FB3C6"/>
          </a:solidFill>
          <a:ln w="12700">
            <a:solidFill>
              <a:srgbClr val="9FB3C6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838548" y="3858768"/>
            <a:ext cx="2514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B9C7D6">
                <a:alpha val="3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5094580" y="411480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148" y="4228368"/>
            <a:ext cx="193487" cy="193487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639916" y="4096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D5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42" name="Text 34"/>
          <p:cNvSpPr/>
          <p:nvPr/>
        </p:nvSpPr>
        <p:spPr>
          <a:xfrm>
            <a:off x="5094580" y="4617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5094580" y="494690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runs against the live application with execution evidence.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 rot="5400000">
            <a:off x="7421728" y="4718304"/>
            <a:ext cx="182880" cy="201168"/>
          </a:xfrm>
          <a:prstGeom prst="triangle">
            <a:avLst/>
          </a:prstGeom>
          <a:solidFill>
            <a:srgbClr val="9FB3C6"/>
          </a:solidFill>
          <a:ln w="12700">
            <a:solidFill>
              <a:srgbClr val="9FB3C6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7673188" y="3858768"/>
            <a:ext cx="2514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B9C7D6">
                <a:alpha val="3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7929220" y="411480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788" y="4228368"/>
            <a:ext cx="193487" cy="193487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9474556" y="4096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D5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49" name="Text 40"/>
          <p:cNvSpPr/>
          <p:nvPr/>
        </p:nvSpPr>
        <p:spPr>
          <a:xfrm>
            <a:off x="7929220" y="4617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7929220" y="494690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validated tests are promoted. Failed or uncertain cases are quarantined or routed for review.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603504" y="60533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(what the browser was observed to show) is captured at stage 2 and is what every later decision is judged against.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206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First. AI Only When Required.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3504" y="9692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"Deterministic" means the platform follows predefined, predictable rules instead of asking AI to make every decision. Each option is attempted in order; the next is reached only when the one above cannot safely settle the element.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572768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64208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157276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Page Object Reuse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2889504" y="1572768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 automation capability the project already has.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" y="2066544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2066544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57984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579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2416" y="2066544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Page Object Reuse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889504" y="2066544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capability with different test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" y="2560320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2560320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0C9C90"/>
          </a:solidFill>
          <a:ln w="12700">
            <a:solidFill>
              <a:srgbClr val="0C9C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65176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6517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2416" y="2560320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Locator Reuse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2889504" y="2560320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capability whose element was already proven in the browser.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" y="3054096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3054096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17A2A0"/>
          </a:solidFill>
          <a:ln w="12700">
            <a:solidFill>
              <a:srgbClr val="17A2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145536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455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2416" y="3054096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/ Structural Resolution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889504" y="3054096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(identifying an element using its surrounding row, dialog, section or container)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" y="3547872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" y="3547872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639312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6393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2416" y="3547872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Resolution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2889504" y="3547872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(understanding what the element represents from its role, name or business meaning)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" y="4041648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" y="4041648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4133088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330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42416" y="404164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AI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2889504" y="4041648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eligible semantic or Page Object ownership ambiguity (which component owns the capability).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" y="4535424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4535424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1F4370"/>
          </a:solidFill>
          <a:ln w="12700">
            <a:solidFill>
              <a:srgbClr val="1F43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626864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6268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42416" y="4535424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Final Fallback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2889504" y="4535424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what the browser was observed to show — never an invented shortcut.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3504" y="5029200"/>
            <a:ext cx="7040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" y="5029200"/>
            <a:ext cx="2148840" cy="429768"/>
          </a:xfrm>
          <a:prstGeom prst="roundRect">
            <a:avLst>
              <a:gd name="adj" fmla="val 10638"/>
            </a:avLst>
          </a:prstGeom>
          <a:solidFill>
            <a:srgbClr val="B4574F"/>
          </a:solidFill>
          <a:ln w="12700">
            <a:solidFill>
              <a:srgbClr val="B4574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512064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5120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42416" y="5029200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2889504" y="5029200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safe stop when the framework cannot prove which element was intended)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918704" y="1572768"/>
            <a:ext cx="3657600" cy="3886200"/>
          </a:xfrm>
          <a:prstGeom prst="roundRect">
            <a:avLst>
              <a:gd name="adj" fmla="val 2000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93024" y="177393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cases do not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AI.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193024" y="25420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9528048" y="254203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60" kern="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AI-ELIGIBLE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93024" y="351129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~82%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9528048" y="3511296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60" kern="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WITHOUT AI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b="1" spc="60" kern="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SAFELY REFUSED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193024" y="455371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61 automation-capability decisions in the current project were eligible for AI assistance. The rest were settled by rules or safely refused — with no model call at all.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03504" y="5577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invoked only when deterministic mechanisms cannot safely resolve an eligible semantic or Page Object ownership ambiguity.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03504" y="59070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before creation: a new capability is created only when ownership is known, the evidence is sufficient, and no existing capability already covers the element.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0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are a current verified measurement from the MoolyaAura project (23 Aug 2026).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5852160" cy="5852160"/>
          </a:xfrm>
          <a:prstGeom prst="ellipse">
            <a:avLst/>
          </a:prstGeom>
          <a:solidFill>
            <a:srgbClr val="1F4370">
              <a:alpha val="38000"/>
            </a:srgbClr>
          </a:solidFill>
          <a:ln w="12700">
            <a:solidFill>
              <a:srgbClr val="1F43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4023360" cy="402336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an Escalation Layer — Not the Automation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MoolyaAura uses AI selectively, reducing unnecessary model calls, dependency on AI and AI-related cost.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316736"/>
            <a:ext cx="5394960" cy="841248"/>
          </a:xfrm>
          <a:prstGeom prst="roundRect">
            <a:avLst>
              <a:gd name="adj" fmla="val 760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31673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~82%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532888" y="1316736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WITHOUT AI OR SAFELY REFUSED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286000"/>
            <a:ext cx="5394960" cy="841248"/>
          </a:xfrm>
          <a:prstGeom prst="roundRect">
            <a:avLst>
              <a:gd name="adj" fmla="val 7609"/>
            </a:avLst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860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32888" y="2286000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2B1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AI ASSISTANCE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3401568"/>
            <a:ext cx="1883664" cy="365760"/>
          </a:xfrm>
          <a:prstGeom prst="rect">
            <a:avLst/>
          </a:prstGeom>
          <a:solidFill>
            <a:srgbClr val="112B4C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401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78608" y="3401568"/>
            <a:ext cx="1746504" cy="365760"/>
          </a:xfrm>
          <a:prstGeom prst="rect">
            <a:avLst/>
          </a:prstGeom>
          <a:solidFill>
            <a:srgbClr val="112B4C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34015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MoolyaAura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61688" y="3401568"/>
            <a:ext cx="1655064" cy="365760"/>
          </a:xfrm>
          <a:prstGeom prst="rect">
            <a:avLst/>
          </a:prstGeom>
          <a:solidFill>
            <a:srgbClr val="112B4C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9704" y="34015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approach*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3803904"/>
            <a:ext cx="1883664" cy="365760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803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78608" y="3803904"/>
            <a:ext cx="1746504" cy="365760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38039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61688" y="3803904"/>
            <a:ext cx="1655064" cy="365760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704" y="38039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100%*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206240"/>
            <a:ext cx="1883664" cy="365760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Non-AI resolution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78608" y="4206240"/>
            <a:ext cx="1746504" cy="365760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6624" y="4206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61688" y="4206240"/>
            <a:ext cx="1655064" cy="365760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4206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0%*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4608576"/>
            <a:ext cx="1883664" cy="365760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6085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78608" y="4608576"/>
            <a:ext cx="1746504" cy="365760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46085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61688" y="4608576"/>
            <a:ext cx="1655064" cy="365760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9704" y="4608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" y="50840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*An illustrative AI-first model where every case is sent through an AI decision layer. It is not a measured benchmark of a specific third-party product.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92240" y="1316736"/>
            <a:ext cx="5047488" cy="2871216"/>
          </a:xfrm>
          <a:prstGeom prst="roundRect">
            <a:avLst>
              <a:gd name="adj" fmla="val 2548"/>
            </a:avLst>
          </a:prstGeom>
          <a:solidFill>
            <a:srgbClr val="17314F"/>
          </a:solidFill>
          <a:ln w="12700">
            <a:solidFill>
              <a:srgbClr val="2543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1444752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used only when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03136" y="1847088"/>
            <a:ext cx="210312" cy="210312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03136" y="184708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14032" y="180136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Page Object reuse cannot resolve the element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03136" y="2167128"/>
            <a:ext cx="210312" cy="210312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216712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14032" y="212140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reuse cannot resolve 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03136" y="2487168"/>
            <a:ext cx="210312" cy="210312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03136" y="248716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114032" y="244144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locator reuse cannot resolve it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03136" y="2807208"/>
            <a:ext cx="210312" cy="210312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03136" y="280720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14032" y="276148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/ structural recovery cannot safely identify it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03136" y="3127248"/>
            <a:ext cx="210312" cy="210312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03136" y="312724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114032" y="308152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semantic resolution cannot establish the capability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03136" y="3447288"/>
            <a:ext cx="210312" cy="210312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03136" y="344728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114032" y="340156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ownership remains ambiguous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03136" y="3767328"/>
            <a:ext cx="210312" cy="210312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03136" y="376732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114032" y="372160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is eligible for semantic / ownership AI assistance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492240" y="433425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334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2B1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proposal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 rot="5400000">
            <a:off x="7927848" y="4526280"/>
            <a:ext cx="146304" cy="182880"/>
          </a:xfrm>
          <a:prstGeom prst="triangle">
            <a:avLst/>
          </a:prstGeom>
          <a:solidFill>
            <a:srgbClr val="6E86A0"/>
          </a:solidFill>
          <a:ln w="12700">
            <a:solidFill>
              <a:srgbClr val="6E86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92440" y="4334256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92440" y="433425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validation gates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 rot="5400000">
            <a:off x="10076688" y="4526280"/>
            <a:ext cx="146304" cy="182880"/>
          </a:xfrm>
          <a:prstGeom prst="triangle">
            <a:avLst/>
          </a:prstGeom>
          <a:solidFill>
            <a:srgbClr val="6E86A0"/>
          </a:solidFill>
          <a:ln w="12700">
            <a:solidFill>
              <a:srgbClr val="6E86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41280" y="4334256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17314F"/>
          </a:solidFill>
          <a:ln w="12700">
            <a:solidFill>
              <a:srgbClr val="25436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41280" y="433425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→ capability / reuse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→ NEEDS_REVIEW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92240" y="4974336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manufactures element uniqueness, browser evidence, element identity, recorded position, page structure, locator stability or ownership evidence. Every AI answer is re-checked by the same rules that would have applied without it.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58368" y="563270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7314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" y="56327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6F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don’t use AI because we can. We use AI only when we need it.”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Enterprise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10515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engineering foundations, with quality and governance designed in rather than added later.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2288" y="1627632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25400" dir="5400000">
              <a:srgbClr val="B9C7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3184" y="1938528"/>
            <a:ext cx="475488" cy="475488"/>
          </a:xfrm>
          <a:prstGeom prst="ellipse">
            <a:avLst/>
          </a:prstGeom>
          <a:solidFill>
            <a:srgbClr val="1F4370"/>
          </a:solidFill>
          <a:ln w="12700">
            <a:solidFill>
              <a:srgbClr val="1F43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565" y="206691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6688" y="19568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8048" y="2587752"/>
            <a:ext cx="28163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Recording / Codegen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application knowledge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Claude-based AI assistance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8488" y="1627632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25400" dir="5400000">
              <a:srgbClr val="B9C7D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9384" y="193852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765" y="206691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2888" y="19568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24248" y="2587752"/>
            <a:ext cx="28163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 locator resolution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/ structural recovery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Strict-mode protection (no silent wrong element)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validation against the live application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for untrusted tests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44688" y="1627632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25400" dir="5400000">
              <a:srgbClr val="B9C7D6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55584" y="1938528"/>
            <a:ext cx="475488" cy="475488"/>
          </a:xfrm>
          <a:prstGeom prst="ellipse">
            <a:avLst/>
          </a:prstGeom>
          <a:solidFill>
            <a:srgbClr val="2E6FA8"/>
          </a:solidFill>
          <a:ln w="12700">
            <a:solidFill>
              <a:srgbClr val="2E6F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965" y="206691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9088" y="19568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10448" y="2587752"/>
            <a:ext cx="28163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Page Object reuse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capability prevention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AI safety boundary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for unresolved identity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gates and traceability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36296" y="5504688"/>
            <a:ext cx="2615184" cy="493776"/>
          </a:xfrm>
          <a:prstGeom prst="roundRect">
            <a:avLst>
              <a:gd name="adj" fmla="val 11111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36296" y="5504688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INFERENCE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370936" y="5504688"/>
            <a:ext cx="2615184" cy="493776"/>
          </a:xfrm>
          <a:prstGeom prst="roundRect">
            <a:avLst>
              <a:gd name="adj" fmla="val 11111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70936" y="5504688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BEFORE CREATION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205576" y="5504688"/>
            <a:ext cx="2615184" cy="493776"/>
          </a:xfrm>
          <a:prstGeom prst="roundRect">
            <a:avLst>
              <a:gd name="adj" fmla="val 11111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05576" y="5504688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WHEN NEEDED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040216" y="5504688"/>
            <a:ext cx="2615184" cy="493776"/>
          </a:xfrm>
          <a:prstGeom prst="roundRect">
            <a:avLst>
              <a:gd name="adj" fmla="val 11111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040216" y="5504688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BEFORE PROMOTION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6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tests are ordinary Playwright test files. They carry no dependency on the recorder or on any AI service at run time.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5852160" cy="5852160"/>
          </a:xfrm>
          <a:prstGeom prst="ellipse">
            <a:avLst/>
          </a:prstGeom>
          <a:solidFill>
            <a:srgbClr val="1F4370">
              <a:alpha val="38000"/>
            </a:srgbClr>
          </a:solidFill>
          <a:ln w="12700">
            <a:solidFill>
              <a:srgbClr val="1F43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4023360" cy="402336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9509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AUTOMATION   •   LESS ENGINEERING EFFORT   •   LOWER MAINTENANCE   •   MINIMAL AI   •   CONTROLLED AI COST   •   SAFE AUTOMATION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12435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to convert one test scenario into working automation — engineer-written against MoolyaAura.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2606040" cy="384048"/>
          </a:xfrm>
          <a:prstGeom prst="rect">
            <a:avLst/>
          </a:prstGeom>
          <a:solidFill>
            <a:srgbClr val="112B4C"/>
          </a:solidFill>
          <a:ln w="12700">
            <a:solidFill>
              <a:srgbClr val="112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27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COMPLEXITY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0128" y="1627632"/>
            <a:ext cx="2606040" cy="384048"/>
          </a:xfrm>
          <a:prstGeom prst="rect">
            <a:avLst/>
          </a:prstGeom>
          <a:solidFill>
            <a:srgbClr val="112B4C"/>
          </a:solidFill>
          <a:ln w="12700">
            <a:solidFill>
              <a:srgbClr val="112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627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ENGINEER, HAND-WRITTEN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61888" y="1627632"/>
            <a:ext cx="2606040" cy="384048"/>
          </a:xfrm>
          <a:prstGeom prst="rect">
            <a:avLst/>
          </a:prstGeom>
          <a:solidFill>
            <a:srgbClr val="112B4C"/>
          </a:solidFill>
          <a:ln w="12700">
            <a:solidFill>
              <a:srgbClr val="112B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627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MoolyaAura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13648" y="1627632"/>
            <a:ext cx="2880360" cy="384048"/>
          </a:xfrm>
          <a:prstGeom prst="rect">
            <a:avLst/>
          </a:prstGeom>
          <a:solidFill>
            <a:srgbClr val="112B4C"/>
          </a:solidFill>
          <a:ln w="12700">
            <a:solidFill>
              <a:srgbClr val="112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16276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PER 100 CASES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2011680"/>
            <a:ext cx="2606040" cy="557784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011680"/>
            <a:ext cx="2606040" cy="557784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1888" y="2011680"/>
            <a:ext cx="2606040" cy="557784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13648" y="2011680"/>
            <a:ext cx="2880360" cy="557784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011680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56432" y="2011680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~78.5 min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08192" y="2011680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59952" y="2011680"/>
            <a:ext cx="2606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~122.5 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2615184"/>
            <a:ext cx="2606040" cy="557784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2615184"/>
            <a:ext cx="2606040" cy="557784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61888" y="2615184"/>
            <a:ext cx="2606040" cy="557784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13648" y="2615184"/>
            <a:ext cx="2880360" cy="557784"/>
          </a:xfrm>
          <a:prstGeom prst="rect">
            <a:avLst/>
          </a:prstGeom>
          <a:solidFill>
            <a:srgbClr val="16324F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2615184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56432" y="2615184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~145.7 min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08192" y="2615184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759952" y="2615184"/>
            <a:ext cx="2606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~231.2 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" y="3218688"/>
            <a:ext cx="2606040" cy="557784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3218688"/>
            <a:ext cx="2606040" cy="557784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61888" y="3218688"/>
            <a:ext cx="2606040" cy="557784"/>
          </a:xfrm>
          <a:prstGeom prst="rect">
            <a:avLst/>
          </a:prstGeom>
          <a:solidFill>
            <a:srgbClr val="132C4A"/>
          </a:solidFill>
          <a:ln w="12700">
            <a:solidFill>
              <a:srgbClr val="203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13648" y="3218688"/>
            <a:ext cx="2880360" cy="5577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218688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456432" y="3218688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 min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108192" y="3218688"/>
            <a:ext cx="2331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759952" y="3218688"/>
            <a:ext cx="2606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~550 h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58368" y="3986784"/>
            <a:ext cx="10881360" cy="1133856"/>
          </a:xfrm>
          <a:prstGeom prst="roundRect">
            <a:avLst>
              <a:gd name="adj" fmla="val 5645"/>
            </a:avLst>
          </a:prstGeom>
          <a:solidFill>
            <a:srgbClr val="17314F"/>
          </a:solidFill>
          <a:ln w="12700">
            <a:solidFill>
              <a:srgbClr val="3A5F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411480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D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PRODUCTIVITY PLANNING MODEL BASED ON STATED TEAM ASSUMPTIONS — NOT MEASURED PRODUCTION RESULTS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2688" y="437083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8.5 productive hours per working day; engineer throughput midpoints of 6.5 (simple), 3.5 (medium) and 1.5 (complex) cases per day; MoolyaAura generation of 5, 7 and 10 minutes per case.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32688" y="470001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monetary value = engineering hours saved × loaded engineering cost per hour. </a:t>
            </a:r>
            <a:pPr indent="0" marL="0">
              <a:buNone/>
            </a:pPr>
            <a:r>
              <a:rPr lang="en-US" sz="1000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Calculable as soon as the client provides its hourly engineering cost.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" y="524865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12B4C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4128" y="5376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Approval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24128" y="568756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MoolyaAura approach of deterministic-first automation, selective AI escalation, reusable Page Objects, evidence-driven safety and governed promotion.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   •   EVIDENCE BEFORE INFERENCE   •   AI ONLY WHEN NEEDED   •   REUSE BEFORE CREATION   •   SAFETY BEFORE PROMOTION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Moolya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MoolyaAura — Intelligent Test Automation Platform</dc:title>
  <dc:subject>PptxGenJS Presentation</dc:subject>
  <dc:creator>Moolya</dc:creator>
  <cp:lastModifiedBy>Moolya</cp:lastModifiedBy>
  <cp:revision>1</cp:revision>
  <dcterms:created xsi:type="dcterms:W3CDTF">2026-08-24T08:28:30Z</dcterms:created>
  <dcterms:modified xsi:type="dcterms:W3CDTF">2026-08-24T08:28:30Z</dcterms:modified>
</cp:coreProperties>
</file>